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DARK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TITLE-image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END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2A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CyVault  |  Digital Risk Protection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9AA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2A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CyVault  |  Digital Risk Protection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2A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CyVault  |  Digital Risk Protection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9AA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cy-vault.netlify.app/cyvault-v5.html" TargetMode="Externa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005840"/>
            <a:ext cx="2468880" cy="2468880"/>
          </a:xfrm>
          <a:prstGeom prst="ellipse">
            <a:avLst/>
          </a:prstGeom>
          <a:solidFill>
            <a:srgbClr val="FF2A2A">
              <a:alpha val="10000"/>
            </a:srgbClr>
          </a:solidFill>
          <a:ln w="19050">
            <a:solidFill>
              <a:srgbClr val="FF2A2A"/>
            </a:solidFill>
            <a:prstDash val="solid"/>
          </a:ln>
        </p:spPr>
      </p:sp>
      <p:pic>
        <p:nvPicPr>
          <p:cNvPr id="3" name="Image 0" descr="/home/claud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2011680" cy="2011680"/>
          </a:xfrm>
          <a:prstGeom prst="ellipse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3716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2F2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CyVault</a:t>
            </a:r>
            <a:endParaRPr lang="en-US" sz="4800" dirty="0"/>
          </a:p>
        </p:txBody>
      </p:sp>
      <p:sp>
        <p:nvSpPr>
          <p:cNvPr id="5" name="Text 2"/>
          <p:cNvSpPr txBox="1"/>
          <p:nvPr/>
        </p:nvSpPr>
        <p:spPr>
          <a:xfrm>
            <a:off x="3017520" y="21488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Risk Protection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3017520" y="27432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9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brand impersonation before your customers get hurt.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017520" y="3977640"/>
            <a:ext cx="1737360" cy="640080"/>
          </a:xfrm>
          <a:prstGeom prst="roundRect">
            <a:avLst>
              <a:gd name="adj" fmla="val 8571"/>
            </a:avLst>
          </a:prstGeom>
          <a:solidFill>
            <a:srgbClr val="18181D"/>
          </a:solidFill>
          <a:ln w="12700">
            <a:solidFill>
              <a:srgbClr val="2E2E3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017520" y="39776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6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A9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937760" y="3977640"/>
            <a:ext cx="1737360" cy="640080"/>
          </a:xfrm>
          <a:prstGeom prst="roundRect">
            <a:avLst>
              <a:gd name="adj" fmla="val 8571"/>
            </a:avLst>
          </a:prstGeom>
          <a:solidFill>
            <a:srgbClr val="18181D"/>
          </a:solidFill>
          <a:ln w="12700">
            <a:solidFill>
              <a:srgbClr val="2E2E3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937760" y="39776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0-100</a:t>
            </a:r>
            <a:endParaRPr lang="en-US" sz="16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A9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score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858000" y="3977640"/>
            <a:ext cx="1737360" cy="640080"/>
          </a:xfrm>
          <a:prstGeom prst="roundRect">
            <a:avLst>
              <a:gd name="adj" fmla="val 8571"/>
            </a:avLst>
          </a:prstGeom>
          <a:solidFill>
            <a:srgbClr val="18181D"/>
          </a:solidFill>
          <a:ln w="12700">
            <a:solidFill>
              <a:srgbClr val="2E2E3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858000" y="39776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6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A9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your browser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3017520" y="32918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9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"There's no silver bullet in cybersecurity; only layered defense works."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2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640080" cy="45720"/>
          </a:xfrm>
          <a:prstGeom prst="rect">
            <a:avLst/>
          </a:prstGeom>
          <a:solidFill>
            <a:srgbClr val="FF2A2A"/>
          </a:solidFill>
          <a:ln w="12700">
            <a:solidFill>
              <a:srgbClr val="FF2A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784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Scammers copy a brand to trick its customers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18181D"/>
          </a:solidFill>
          <a:ln w="12700">
            <a:solidFill>
              <a:srgbClr val="2E2E3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45920"/>
            <a:ext cx="320040" cy="45720"/>
          </a:xfrm>
          <a:prstGeom prst="rect">
            <a:avLst/>
          </a:prstGeom>
          <a:solidFill>
            <a:srgbClr val="FF2A2A"/>
          </a:solidFill>
          <a:ln w="12700">
            <a:solidFill>
              <a:srgbClr val="FF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23160" y="1618488"/>
            <a:ext cx="457200" cy="457200"/>
          </a:xfrm>
          <a:prstGeom prst="ellipse">
            <a:avLst/>
          </a:prstGeom>
          <a:solidFill>
            <a:srgbClr val="FF2A2A">
              <a:alpha val="15000"/>
            </a:srgbClr>
          </a:solidFill>
          <a:ln w="9525">
            <a:solidFill>
              <a:srgbClr val="FF2A2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23744" y="1719072"/>
            <a:ext cx="256032" cy="25603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40080" y="17556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2F2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Fake websites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139696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9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Look-alike domains with a zero for an o, or words like secure and kyc, steal OTPs and card details.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68980" y="146304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18181D"/>
          </a:solidFill>
          <a:ln w="12700">
            <a:solidFill>
              <a:srgbClr val="2E2E3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51860" y="1645920"/>
            <a:ext cx="320040" cy="45720"/>
          </a:xfrm>
          <a:prstGeom prst="rect">
            <a:avLst/>
          </a:prstGeom>
          <a:solidFill>
            <a:srgbClr val="FF2A2A"/>
          </a:solidFill>
          <a:ln w="12700">
            <a:solidFill>
              <a:srgbClr val="FF2A2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234940" y="1618488"/>
            <a:ext cx="457200" cy="457200"/>
          </a:xfrm>
          <a:prstGeom prst="ellipse">
            <a:avLst/>
          </a:prstGeom>
          <a:solidFill>
            <a:srgbClr val="FF2A2A">
              <a:alpha val="15000"/>
            </a:srgbClr>
          </a:solidFill>
          <a:ln w="9525">
            <a:solidFill>
              <a:srgbClr val="FF2A2A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5524" y="1719072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451860" y="17556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2F2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Copycat apps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3451860" y="2139696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9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Fake apps with the brand name and logo ask for SMS and screen-control permissions.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080760" y="146304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18181D"/>
          </a:solidFill>
          <a:ln w="12700">
            <a:solidFill>
              <a:srgbClr val="2E2E36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263640" y="1645920"/>
            <a:ext cx="320040" cy="45720"/>
          </a:xfrm>
          <a:prstGeom prst="rect">
            <a:avLst/>
          </a:prstGeom>
          <a:solidFill>
            <a:srgbClr val="FF2A2A"/>
          </a:solidFill>
          <a:ln w="12700">
            <a:solidFill>
              <a:srgbClr val="FF2A2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046720" y="1618488"/>
            <a:ext cx="457200" cy="457200"/>
          </a:xfrm>
          <a:prstGeom prst="ellipse">
            <a:avLst/>
          </a:prstGeom>
          <a:solidFill>
            <a:srgbClr val="FF2A2A">
              <a:alpha val="15000"/>
            </a:srgbClr>
          </a:solidFill>
          <a:ln w="9525">
            <a:solidFill>
              <a:srgbClr val="FF2A2A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7304" y="1719072"/>
            <a:ext cx="256032" cy="256032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263640" y="17556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2F2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and APKs</a:t>
            </a:r>
            <a:endParaRPr lang="en-US" sz="1250" dirty="0"/>
          </a:p>
        </p:txBody>
      </p:sp>
      <p:sp>
        <p:nvSpPr>
          <p:cNvPr id="22" name="Text 17"/>
          <p:cNvSpPr txBox="1"/>
          <p:nvPr/>
        </p:nvSpPr>
        <p:spPr>
          <a:xfrm>
            <a:off x="6263640" y="2139696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9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and app files sent over SMS, WhatsApp and social media install malware.</a:t>
            </a:r>
            <a:endParaRPr lang="en-US" sz="1100" dirty="0"/>
          </a:p>
        </p:txBody>
      </p:sp>
      <p:sp>
        <p:nvSpPr>
          <p:cNvPr id="23" name="Text 18"/>
          <p:cNvSpPr txBox="1"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Brands usually find out after customers have already lost money.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9AA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2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solution: CyVault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640080" cy="45720"/>
          </a:xfrm>
          <a:prstGeom prst="rect">
            <a:avLst/>
          </a:prstGeom>
          <a:solidFill>
            <a:srgbClr val="FF2A2A"/>
          </a:solidFill>
          <a:ln w="12700">
            <a:solidFill>
              <a:srgbClr val="FF2A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784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tool, many layered checks, every score explained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18181D"/>
          </a:solidFill>
          <a:ln w="12700">
            <a:solidFill>
              <a:srgbClr val="2E2E3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54480"/>
            <a:ext cx="320040" cy="45720"/>
          </a:xfrm>
          <a:prstGeom prst="rect">
            <a:avLst/>
          </a:prstGeom>
          <a:solidFill>
            <a:srgbClr val="FF2A2A"/>
          </a:solidFill>
          <a:ln w="12700">
            <a:solidFill>
              <a:srgbClr val="FF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23160" y="1527048"/>
            <a:ext cx="457200" cy="457200"/>
          </a:xfrm>
          <a:prstGeom prst="ellipse">
            <a:avLst/>
          </a:prstGeom>
          <a:solidFill>
            <a:srgbClr val="FF2A2A">
              <a:alpha val="15000"/>
            </a:srgbClr>
          </a:solidFill>
          <a:ln w="9525">
            <a:solidFill>
              <a:srgbClr val="FF2A2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23744" y="1627632"/>
            <a:ext cx="256032" cy="25603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40080" y="166420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2F2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setup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048256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9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handle, website and app form the allow-list.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68980" y="137160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18181D"/>
          </a:solidFill>
          <a:ln w="12700">
            <a:solidFill>
              <a:srgbClr val="2E2E3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51860" y="1554480"/>
            <a:ext cx="320040" cy="45720"/>
          </a:xfrm>
          <a:prstGeom prst="rect">
            <a:avLst/>
          </a:prstGeom>
          <a:solidFill>
            <a:srgbClr val="FF2A2A"/>
          </a:solidFill>
          <a:ln w="12700">
            <a:solidFill>
              <a:srgbClr val="FF2A2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234940" y="1527048"/>
            <a:ext cx="457200" cy="457200"/>
          </a:xfrm>
          <a:prstGeom prst="ellipse">
            <a:avLst/>
          </a:prstGeom>
          <a:solidFill>
            <a:srgbClr val="FF2A2A">
              <a:alpha val="15000"/>
            </a:srgbClr>
          </a:solidFill>
          <a:ln w="9525">
            <a:solidFill>
              <a:srgbClr val="FF2A2A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5524" y="1627632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451860" y="166420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2F2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Report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3451860" y="2048256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9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Charts, searchable flagged items, CSV export.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080760" y="137160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18181D"/>
          </a:solidFill>
          <a:ln w="12700">
            <a:solidFill>
              <a:srgbClr val="2E2E36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263640" y="1554480"/>
            <a:ext cx="320040" cy="45720"/>
          </a:xfrm>
          <a:prstGeom prst="rect">
            <a:avLst/>
          </a:prstGeom>
          <a:solidFill>
            <a:srgbClr val="FF2A2A"/>
          </a:solidFill>
          <a:ln w="12700">
            <a:solidFill>
              <a:srgbClr val="FF2A2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046720" y="1527048"/>
            <a:ext cx="457200" cy="457200"/>
          </a:xfrm>
          <a:prstGeom prst="ellipse">
            <a:avLst/>
          </a:prstGeom>
          <a:solidFill>
            <a:srgbClr val="FF2A2A">
              <a:alpha val="15000"/>
            </a:srgbClr>
          </a:solidFill>
          <a:ln w="9525">
            <a:solidFill>
              <a:srgbClr val="FF2A2A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7304" y="1627632"/>
            <a:ext cx="256032" cy="256032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263640" y="166420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2F2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 Scanner</a:t>
            </a:r>
            <a:endParaRPr lang="en-US" sz="1250" dirty="0"/>
          </a:p>
        </p:txBody>
      </p:sp>
      <p:sp>
        <p:nvSpPr>
          <p:cNvPr id="22" name="Text 17"/>
          <p:cNvSpPr txBox="1"/>
          <p:nvPr/>
        </p:nvSpPr>
        <p:spPr>
          <a:xfrm>
            <a:off x="6263640" y="2048256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9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Scores up to 10 links for scam signals.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457200" y="301752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18181D"/>
          </a:solidFill>
          <a:ln w="12700">
            <a:solidFill>
              <a:srgbClr val="2E2E36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40080" y="3200400"/>
            <a:ext cx="320040" cy="45720"/>
          </a:xfrm>
          <a:prstGeom prst="rect">
            <a:avLst/>
          </a:prstGeom>
          <a:solidFill>
            <a:srgbClr val="FF2A2A"/>
          </a:solidFill>
          <a:ln w="12700">
            <a:solidFill>
              <a:srgbClr val="FF2A2A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2423160" y="3172968"/>
            <a:ext cx="457200" cy="457200"/>
          </a:xfrm>
          <a:prstGeom prst="ellipse">
            <a:avLst/>
          </a:prstGeom>
          <a:solidFill>
            <a:srgbClr val="FF2A2A">
              <a:alpha val="15000"/>
            </a:srgbClr>
          </a:solidFill>
          <a:ln w="9525">
            <a:solidFill>
              <a:srgbClr val="FF2A2A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3744" y="3273552"/>
            <a:ext cx="256032" cy="256032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640080" y="331012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2F2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APK Scanner</a:t>
            </a:r>
            <a:endParaRPr lang="en-US" sz="1250" dirty="0"/>
          </a:p>
        </p:txBody>
      </p:sp>
      <p:sp>
        <p:nvSpPr>
          <p:cNvPr id="28" name="Text 22"/>
          <p:cNvSpPr txBox="1"/>
          <p:nvPr/>
        </p:nvSpPr>
        <p:spPr>
          <a:xfrm>
            <a:off x="640080" y="3694176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9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check of permissions, source and package.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3268980" y="301752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18181D"/>
          </a:solidFill>
          <a:ln w="12700">
            <a:solidFill>
              <a:srgbClr val="2E2E36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3451860" y="3200400"/>
            <a:ext cx="320040" cy="45720"/>
          </a:xfrm>
          <a:prstGeom prst="rect">
            <a:avLst/>
          </a:prstGeom>
          <a:solidFill>
            <a:srgbClr val="FF2A2A"/>
          </a:solidFill>
          <a:ln w="12700">
            <a:solidFill>
              <a:srgbClr val="FF2A2A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5234940" y="3172968"/>
            <a:ext cx="457200" cy="457200"/>
          </a:xfrm>
          <a:prstGeom prst="ellipse">
            <a:avLst/>
          </a:prstGeom>
          <a:solidFill>
            <a:srgbClr val="FF2A2A">
              <a:alpha val="15000"/>
            </a:srgbClr>
          </a:solidFill>
          <a:ln w="9525">
            <a:solidFill>
              <a:srgbClr val="FF2A2A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5524" y="3273552"/>
            <a:ext cx="256032" cy="256032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3451860" y="331012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2F2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 Scanner</a:t>
            </a:r>
            <a:endParaRPr lang="en-US" sz="1250" dirty="0"/>
          </a:p>
        </p:txBody>
      </p:sp>
      <p:sp>
        <p:nvSpPr>
          <p:cNvPr id="34" name="Text 27"/>
          <p:cNvSpPr txBox="1"/>
          <p:nvPr/>
        </p:nvSpPr>
        <p:spPr>
          <a:xfrm>
            <a:off x="3451860" y="3694176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9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Finds copied logos by shape, layout and colour.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6080760" y="301752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18181D"/>
          </a:solidFill>
          <a:ln w="12700">
            <a:solidFill>
              <a:srgbClr val="2E2E36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6263640" y="3200400"/>
            <a:ext cx="320040" cy="45720"/>
          </a:xfrm>
          <a:prstGeom prst="rect">
            <a:avLst/>
          </a:prstGeom>
          <a:solidFill>
            <a:srgbClr val="FF2A2A"/>
          </a:solidFill>
          <a:ln w="12700">
            <a:solidFill>
              <a:srgbClr val="FF2A2A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8046720" y="3172968"/>
            <a:ext cx="457200" cy="457200"/>
          </a:xfrm>
          <a:prstGeom prst="ellipse">
            <a:avLst/>
          </a:prstGeom>
          <a:solidFill>
            <a:srgbClr val="FF2A2A">
              <a:alpha val="15000"/>
            </a:srgbClr>
          </a:solidFill>
          <a:ln w="9525">
            <a:solidFill>
              <a:srgbClr val="FF2A2A"/>
            </a:solidFill>
            <a:prstDash val="solid"/>
          </a:ln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47304" y="3273552"/>
            <a:ext cx="256032" cy="256032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6263640" y="331012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2F2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Honeypot AI</a:t>
            </a:r>
            <a:endParaRPr lang="en-US" sz="1250" dirty="0"/>
          </a:p>
        </p:txBody>
      </p:sp>
      <p:sp>
        <p:nvSpPr>
          <p:cNvPr id="40" name="Text 32"/>
          <p:cNvSpPr txBox="1"/>
          <p:nvPr/>
        </p:nvSpPr>
        <p:spPr>
          <a:xfrm>
            <a:off x="6263640" y="3694176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9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Simulation: scammer sees a decoy balance.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9AA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2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in CyVault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640080" cy="45720"/>
          </a:xfrm>
          <a:prstGeom prst="rect">
            <a:avLst/>
          </a:prstGeom>
          <a:solidFill>
            <a:srgbClr val="FF2A2A"/>
          </a:solidFill>
          <a:ln w="12700">
            <a:solidFill>
              <a:srgbClr val="FF2A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784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sections, each with one job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988820" cy="731520"/>
          </a:xfrm>
          <a:prstGeom prst="roundRect">
            <a:avLst>
              <a:gd name="adj" fmla="val 7500"/>
            </a:avLst>
          </a:prstGeom>
          <a:solidFill>
            <a:srgbClr val="18181D"/>
          </a:solidFill>
          <a:ln w="12700">
            <a:solidFill>
              <a:srgbClr val="2E2E3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389888"/>
            <a:ext cx="36576" cy="512064"/>
          </a:xfrm>
          <a:prstGeom prst="rect">
            <a:avLst/>
          </a:prstGeom>
          <a:solidFill>
            <a:srgbClr val="FF2A2A"/>
          </a:solidFill>
          <a:ln w="12700">
            <a:solidFill>
              <a:srgbClr val="FF2A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35331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2F2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and themes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59105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A9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up, demo user, light and dark mode.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537460" y="1280160"/>
            <a:ext cx="1988820" cy="731520"/>
          </a:xfrm>
          <a:prstGeom prst="roundRect">
            <a:avLst>
              <a:gd name="adj" fmla="val 7500"/>
            </a:avLst>
          </a:prstGeom>
          <a:solidFill>
            <a:srgbClr val="18181D"/>
          </a:solidFill>
          <a:ln w="12700">
            <a:solidFill>
              <a:srgbClr val="2E2E3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47188" y="1389888"/>
            <a:ext cx="36576" cy="512064"/>
          </a:xfrm>
          <a:prstGeom prst="rect">
            <a:avLst/>
          </a:prstGeom>
          <a:solidFill>
            <a:srgbClr val="FF2A2A"/>
          </a:solidFill>
          <a:ln w="12700">
            <a:solidFill>
              <a:srgbClr val="FF2A2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66060" y="135331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2F2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2766060" y="159105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A9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handle, website, app and logo form the allow-list.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617720" y="1280160"/>
            <a:ext cx="1988820" cy="731520"/>
          </a:xfrm>
          <a:prstGeom prst="roundRect">
            <a:avLst>
              <a:gd name="adj" fmla="val 7500"/>
            </a:avLst>
          </a:prstGeom>
          <a:solidFill>
            <a:srgbClr val="18181D"/>
          </a:solidFill>
          <a:ln w="12700">
            <a:solidFill>
              <a:srgbClr val="2E2E3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27448" y="1389888"/>
            <a:ext cx="36576" cy="512064"/>
          </a:xfrm>
          <a:prstGeom prst="rect">
            <a:avLst/>
          </a:prstGeom>
          <a:solidFill>
            <a:srgbClr val="FF2A2A"/>
          </a:solidFill>
          <a:ln w="12700">
            <a:solidFill>
              <a:srgbClr val="FF2A2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46320" y="135331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2F2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Report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159105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A9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Charts, flagged items table, CSV export, check history.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697980" y="1280160"/>
            <a:ext cx="1988820" cy="731520"/>
          </a:xfrm>
          <a:prstGeom prst="roundRect">
            <a:avLst>
              <a:gd name="adj" fmla="val 7500"/>
            </a:avLst>
          </a:prstGeom>
          <a:solidFill>
            <a:srgbClr val="18181D"/>
          </a:solidFill>
          <a:ln w="12700">
            <a:solidFill>
              <a:srgbClr val="2E2E3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07708" y="1389888"/>
            <a:ext cx="36576" cy="512064"/>
          </a:xfrm>
          <a:prstGeom prst="rect">
            <a:avLst/>
          </a:prstGeom>
          <a:solidFill>
            <a:srgbClr val="FF2A2A"/>
          </a:solidFill>
          <a:ln w="12700">
            <a:solidFill>
              <a:srgbClr val="FF2A2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926580" y="135331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2F2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Monitoring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926580" y="159105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A9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Ranked copycat apps; report a fake app.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7200" y="2103120"/>
            <a:ext cx="1988820" cy="731520"/>
          </a:xfrm>
          <a:prstGeom prst="roundRect">
            <a:avLst>
              <a:gd name="adj" fmla="val 7500"/>
            </a:avLst>
          </a:prstGeom>
          <a:solidFill>
            <a:srgbClr val="18181D"/>
          </a:solidFill>
          <a:ln w="12700">
            <a:solidFill>
              <a:srgbClr val="2E2E3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6928" y="2212848"/>
            <a:ext cx="36576" cy="512064"/>
          </a:xfrm>
          <a:prstGeom prst="rect">
            <a:avLst/>
          </a:prstGeom>
          <a:solidFill>
            <a:srgbClr val="FF2A2A"/>
          </a:solidFill>
          <a:ln w="12700">
            <a:solidFill>
              <a:srgbClr val="FF2A2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217627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2F2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Websites and Report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241401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A9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Look-alike domains; report a fake website.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537460" y="2103120"/>
            <a:ext cx="1988820" cy="731520"/>
          </a:xfrm>
          <a:prstGeom prst="roundRect">
            <a:avLst>
              <a:gd name="adj" fmla="val 7500"/>
            </a:avLst>
          </a:prstGeom>
          <a:solidFill>
            <a:srgbClr val="18181D"/>
          </a:solidFill>
          <a:ln w="12700">
            <a:solidFill>
              <a:srgbClr val="2E2E3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47188" y="2212848"/>
            <a:ext cx="36576" cy="512064"/>
          </a:xfrm>
          <a:prstGeom prst="rect">
            <a:avLst/>
          </a:prstGeom>
          <a:solidFill>
            <a:srgbClr val="FF2A2A"/>
          </a:solidFill>
          <a:ln w="12700">
            <a:solidFill>
              <a:srgbClr val="FF2A2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766060" y="217627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2F2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 Scanner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2766060" y="241401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A9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Scores up to 10 links for scam signals.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617720" y="2103120"/>
            <a:ext cx="1988820" cy="731520"/>
          </a:xfrm>
          <a:prstGeom prst="roundRect">
            <a:avLst>
              <a:gd name="adj" fmla="val 7500"/>
            </a:avLst>
          </a:prstGeom>
          <a:solidFill>
            <a:srgbClr val="18181D"/>
          </a:solidFill>
          <a:ln w="12700">
            <a:solidFill>
              <a:srgbClr val="2E2E3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27448" y="2212848"/>
            <a:ext cx="36576" cy="512064"/>
          </a:xfrm>
          <a:prstGeom prst="rect">
            <a:avLst/>
          </a:prstGeom>
          <a:solidFill>
            <a:srgbClr val="FF2A2A"/>
          </a:solidFill>
          <a:ln w="12700">
            <a:solidFill>
              <a:srgbClr val="FF2A2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846320" y="217627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2F2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APK Scanner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4846320" y="241401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A9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check of permissions, source and package.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697980" y="2103120"/>
            <a:ext cx="1988820" cy="731520"/>
          </a:xfrm>
          <a:prstGeom prst="roundRect">
            <a:avLst>
              <a:gd name="adj" fmla="val 7500"/>
            </a:avLst>
          </a:prstGeom>
          <a:solidFill>
            <a:srgbClr val="18181D"/>
          </a:solidFill>
          <a:ln w="12700">
            <a:solidFill>
              <a:srgbClr val="2E2E3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07708" y="2212848"/>
            <a:ext cx="36576" cy="512064"/>
          </a:xfrm>
          <a:prstGeom prst="rect">
            <a:avLst/>
          </a:prstGeom>
          <a:solidFill>
            <a:srgbClr val="FF2A2A"/>
          </a:solidFill>
          <a:ln w="12700">
            <a:solidFill>
              <a:srgbClr val="FF2A2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926580" y="217627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2F2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 Scanner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6926580" y="241401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A9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Compares a logo with yours by shape, layout, colour.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57200" y="2926080"/>
            <a:ext cx="1988820" cy="731520"/>
          </a:xfrm>
          <a:prstGeom prst="roundRect">
            <a:avLst>
              <a:gd name="adj" fmla="val 7500"/>
            </a:avLst>
          </a:prstGeom>
          <a:solidFill>
            <a:srgbClr val="18181D"/>
          </a:solidFill>
          <a:ln w="12700">
            <a:solidFill>
              <a:srgbClr val="2E2E3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66928" y="3035808"/>
            <a:ext cx="36576" cy="512064"/>
          </a:xfrm>
          <a:prstGeom prst="rect">
            <a:avLst/>
          </a:prstGeom>
          <a:solidFill>
            <a:srgbClr val="FF2A2A"/>
          </a:solidFill>
          <a:ln w="12700">
            <a:solidFill>
              <a:srgbClr val="FF2A2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85800" y="299923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2F2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Scam Alerts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685800" y="323697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A9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scam types with warning signs and safety tips.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537460" y="2926080"/>
            <a:ext cx="1988820" cy="731520"/>
          </a:xfrm>
          <a:prstGeom prst="roundRect">
            <a:avLst>
              <a:gd name="adj" fmla="val 7500"/>
            </a:avLst>
          </a:prstGeom>
          <a:solidFill>
            <a:srgbClr val="18181D"/>
          </a:solidFill>
          <a:ln w="12700">
            <a:solidFill>
              <a:srgbClr val="2E2E3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647188" y="3035808"/>
            <a:ext cx="36576" cy="512064"/>
          </a:xfrm>
          <a:prstGeom prst="rect">
            <a:avLst/>
          </a:prstGeom>
          <a:solidFill>
            <a:srgbClr val="FF2A2A"/>
          </a:solidFill>
          <a:ln w="12700">
            <a:solidFill>
              <a:srgbClr val="FF2A2A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2766060" y="299923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2F2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Honeypot AI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2766060" y="323697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A9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Simulation: decoy balance and evidence log for scammers.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617720" y="2926080"/>
            <a:ext cx="1988820" cy="731520"/>
          </a:xfrm>
          <a:prstGeom prst="roundRect">
            <a:avLst>
              <a:gd name="adj" fmla="val 7500"/>
            </a:avLst>
          </a:prstGeom>
          <a:solidFill>
            <a:srgbClr val="18181D"/>
          </a:solidFill>
          <a:ln w="12700">
            <a:solidFill>
              <a:srgbClr val="2E2E3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727448" y="3035808"/>
            <a:ext cx="36576" cy="512064"/>
          </a:xfrm>
          <a:prstGeom prst="rect">
            <a:avLst/>
          </a:prstGeom>
          <a:solidFill>
            <a:srgbClr val="FF2A2A"/>
          </a:solidFill>
          <a:ln w="12700">
            <a:solidFill>
              <a:srgbClr val="FF2A2A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4846320" y="299923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2F2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Dashboard</a:t>
            </a:r>
            <a:endParaRPr lang="en-US" sz="1050" dirty="0"/>
          </a:p>
        </p:txBody>
      </p:sp>
      <p:sp>
        <p:nvSpPr>
          <p:cNvPr id="48" name="Text 46"/>
          <p:cNvSpPr txBox="1"/>
          <p:nvPr/>
        </p:nvSpPr>
        <p:spPr>
          <a:xfrm>
            <a:off x="4846320" y="323697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A9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stats in one place, plus a PDF report.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697980" y="2926080"/>
            <a:ext cx="1988820" cy="731520"/>
          </a:xfrm>
          <a:prstGeom prst="roundRect">
            <a:avLst>
              <a:gd name="adj" fmla="val 7500"/>
            </a:avLst>
          </a:prstGeom>
          <a:solidFill>
            <a:srgbClr val="18181D"/>
          </a:solidFill>
          <a:ln w="12700">
            <a:solidFill>
              <a:srgbClr val="2E2E3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807708" y="3035808"/>
            <a:ext cx="36576" cy="512064"/>
          </a:xfrm>
          <a:prstGeom prst="rect">
            <a:avLst/>
          </a:prstGeom>
          <a:solidFill>
            <a:srgbClr val="FF2A2A"/>
          </a:solidFill>
          <a:ln w="12700">
            <a:solidFill>
              <a:srgbClr val="FF2A2A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926580" y="299923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2F2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6926580" y="323697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A9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domain lookup, saved to history.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57200" y="3749040"/>
            <a:ext cx="1988820" cy="731520"/>
          </a:xfrm>
          <a:prstGeom prst="roundRect">
            <a:avLst>
              <a:gd name="adj" fmla="val 7500"/>
            </a:avLst>
          </a:prstGeom>
          <a:solidFill>
            <a:srgbClr val="18181D"/>
          </a:solidFill>
          <a:ln w="12700">
            <a:solidFill>
              <a:srgbClr val="2E2E3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66928" y="3858768"/>
            <a:ext cx="36576" cy="512064"/>
          </a:xfrm>
          <a:prstGeom prst="rect">
            <a:avLst/>
          </a:prstGeom>
          <a:solidFill>
            <a:srgbClr val="FF2A2A"/>
          </a:solidFill>
          <a:ln w="12700">
            <a:solidFill>
              <a:srgbClr val="FF2A2A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685800" y="382219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2F2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050" dirty="0"/>
          </a:p>
        </p:txBody>
      </p:sp>
      <p:sp>
        <p:nvSpPr>
          <p:cNvPr id="56" name="Text 54"/>
          <p:cNvSpPr txBox="1"/>
          <p:nvPr/>
        </p:nvSpPr>
        <p:spPr>
          <a:xfrm>
            <a:off x="685800" y="405993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A9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Seven-step view of how CyVault works.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2537460" y="3749040"/>
            <a:ext cx="1988820" cy="731520"/>
          </a:xfrm>
          <a:prstGeom prst="roundRect">
            <a:avLst>
              <a:gd name="adj" fmla="val 7500"/>
            </a:avLst>
          </a:prstGeom>
          <a:solidFill>
            <a:srgbClr val="18181D"/>
          </a:solidFill>
          <a:ln w="12700">
            <a:solidFill>
              <a:srgbClr val="2E2E3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647188" y="3858768"/>
            <a:ext cx="36576" cy="512064"/>
          </a:xfrm>
          <a:prstGeom prst="rect">
            <a:avLst/>
          </a:prstGeom>
          <a:solidFill>
            <a:srgbClr val="FF2A2A"/>
          </a:solidFill>
          <a:ln w="12700">
            <a:solidFill>
              <a:srgbClr val="FF2A2A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2766060" y="382219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2F2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Chat</a:t>
            </a:r>
            <a:endParaRPr lang="en-US" sz="1050" dirty="0"/>
          </a:p>
        </p:txBody>
      </p:sp>
      <p:sp>
        <p:nvSpPr>
          <p:cNvPr id="60" name="Text 58"/>
          <p:cNvSpPr txBox="1"/>
          <p:nvPr/>
        </p:nvSpPr>
        <p:spPr>
          <a:xfrm>
            <a:off x="2766060" y="405993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A9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about scams and threats by typing or voice.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9AA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2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640080" cy="45720"/>
          </a:xfrm>
          <a:prstGeom prst="rect">
            <a:avLst/>
          </a:prstGeom>
          <a:solidFill>
            <a:srgbClr val="FF2A2A"/>
          </a:solidFill>
          <a:ln w="12700">
            <a:solidFill>
              <a:srgbClr val="FF2A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784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signals add up to a score from 0 to 100 with reasons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18181D"/>
          </a:solidFill>
          <a:ln w="12700">
            <a:solidFill>
              <a:srgbClr val="2E2E3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00200"/>
            <a:ext cx="320040" cy="45720"/>
          </a:xfrm>
          <a:prstGeom prst="rect">
            <a:avLst/>
          </a:prstGeom>
          <a:solidFill>
            <a:srgbClr val="FF2A2A"/>
          </a:solidFill>
          <a:ln w="12700">
            <a:solidFill>
              <a:srgbClr val="FF2A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70992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F2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Brand profile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093976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9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assets score 0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377440" y="19659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560320" y="141732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18181D"/>
          </a:solidFill>
          <a:ln w="12700">
            <a:solidFill>
              <a:srgbClr val="2E2E3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0" y="1600200"/>
            <a:ext cx="320040" cy="45720"/>
          </a:xfrm>
          <a:prstGeom prst="rect">
            <a:avLst/>
          </a:prstGeom>
          <a:solidFill>
            <a:srgbClr val="FF2A2A"/>
          </a:solidFill>
          <a:ln w="12700">
            <a:solidFill>
              <a:srgbClr val="FF2A2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743200" y="170992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F2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Detection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743200" y="2093976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9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Name, domain, permissions, logo, source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19659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663440" y="141732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18181D"/>
          </a:solidFill>
          <a:ln w="12700">
            <a:solidFill>
              <a:srgbClr val="2E2E3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46320" y="1600200"/>
            <a:ext cx="320040" cy="45720"/>
          </a:xfrm>
          <a:prstGeom prst="rect">
            <a:avLst/>
          </a:prstGeom>
          <a:solidFill>
            <a:srgbClr val="FF2A2A"/>
          </a:solidFill>
          <a:ln w="12700">
            <a:solidFill>
              <a:srgbClr val="FF2A2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46320" y="170992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F2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Score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2093976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9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signals, reasons shown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19659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766560" y="141732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18181D"/>
          </a:solidFill>
          <a:ln w="12700">
            <a:solidFill>
              <a:srgbClr val="2E2E3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49440" y="1600200"/>
            <a:ext cx="320040" cy="45720"/>
          </a:xfrm>
          <a:prstGeom prst="rect">
            <a:avLst/>
          </a:prstGeom>
          <a:solidFill>
            <a:srgbClr val="FF2A2A"/>
          </a:solidFill>
          <a:ln w="12700">
            <a:solidFill>
              <a:srgbClr val="FF2A2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949440" y="170992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F2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Outputs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949440" y="2093976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9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Takedown report, PDF, AI chat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3108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2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levels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347472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5C5C66"/>
          </a:solidFill>
          <a:ln w="12700">
            <a:solidFill>
              <a:srgbClr val="5C5C6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7200" y="34747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0 - 29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560320" y="347472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B4B4BE"/>
          </a:solidFill>
          <a:ln w="12700">
            <a:solidFill>
              <a:srgbClr val="B4B4B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560320" y="34747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0E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E0E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30 - 59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663440" y="347472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FF2A2A"/>
          </a:solidFill>
          <a:ln w="12700">
            <a:solidFill>
              <a:srgbClr val="FF2A2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663440" y="34747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60 - 79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766560" y="347472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B01010"/>
          </a:solidFill>
          <a:ln w="12700">
            <a:solidFill>
              <a:srgbClr val="B0101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766560" y="34747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80 - 100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9AA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2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640080" cy="45720"/>
          </a:xfrm>
          <a:prstGeom prst="rect">
            <a:avLst/>
          </a:prstGeom>
          <a:solidFill>
            <a:srgbClr val="FF2A2A"/>
          </a:solidFill>
          <a:ln w="12700">
            <a:solidFill>
              <a:srgbClr val="FF2A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784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 web technologies, everything runs in the browser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18181D"/>
          </a:solidFill>
          <a:ln w="12700">
            <a:solidFill>
              <a:srgbClr val="2E2E3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54480"/>
            <a:ext cx="320040" cy="45720"/>
          </a:xfrm>
          <a:prstGeom prst="rect">
            <a:avLst/>
          </a:prstGeom>
          <a:solidFill>
            <a:srgbClr val="FF2A2A"/>
          </a:solidFill>
          <a:ln w="12700">
            <a:solidFill>
              <a:srgbClr val="FF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23160" y="1527048"/>
            <a:ext cx="457200" cy="457200"/>
          </a:xfrm>
          <a:prstGeom prst="ellipse">
            <a:avLst/>
          </a:prstGeom>
          <a:solidFill>
            <a:srgbClr val="FF2A2A">
              <a:alpha val="15000"/>
            </a:srgbClr>
          </a:solidFill>
          <a:ln w="9525">
            <a:solidFill>
              <a:srgbClr val="FF2A2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23744" y="1627632"/>
            <a:ext cx="256032" cy="25603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40080" y="166420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2F2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HTML, CSS, JS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048256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9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file, no framework, light and dark theme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68980" y="137160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18181D"/>
          </a:solidFill>
          <a:ln w="12700">
            <a:solidFill>
              <a:srgbClr val="2E2E3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51860" y="1554480"/>
            <a:ext cx="320040" cy="45720"/>
          </a:xfrm>
          <a:prstGeom prst="rect">
            <a:avLst/>
          </a:prstGeom>
          <a:solidFill>
            <a:srgbClr val="FF2A2A"/>
          </a:solidFill>
          <a:ln w="12700">
            <a:solidFill>
              <a:srgbClr val="FF2A2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234940" y="1527048"/>
            <a:ext cx="457200" cy="457200"/>
          </a:xfrm>
          <a:prstGeom prst="ellipse">
            <a:avLst/>
          </a:prstGeom>
          <a:solidFill>
            <a:srgbClr val="FF2A2A">
              <a:alpha val="15000"/>
            </a:srgbClr>
          </a:solidFill>
          <a:ln w="9525">
            <a:solidFill>
              <a:srgbClr val="FF2A2A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5524" y="1627632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451860" y="166420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2F2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Crypto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3451860" y="2048256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9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Salted SHA-256 password hash, APK fingerprint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080760" y="137160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18181D"/>
          </a:solidFill>
          <a:ln w="12700">
            <a:solidFill>
              <a:srgbClr val="2E2E36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263640" y="1554480"/>
            <a:ext cx="320040" cy="45720"/>
          </a:xfrm>
          <a:prstGeom prst="rect">
            <a:avLst/>
          </a:prstGeom>
          <a:solidFill>
            <a:srgbClr val="FF2A2A"/>
          </a:solidFill>
          <a:ln w="12700">
            <a:solidFill>
              <a:srgbClr val="FF2A2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046720" y="1527048"/>
            <a:ext cx="457200" cy="457200"/>
          </a:xfrm>
          <a:prstGeom prst="ellipse">
            <a:avLst/>
          </a:prstGeom>
          <a:solidFill>
            <a:srgbClr val="FF2A2A">
              <a:alpha val="15000"/>
            </a:srgbClr>
          </a:solidFill>
          <a:ln w="9525">
            <a:solidFill>
              <a:srgbClr val="FF2A2A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7304" y="1627632"/>
            <a:ext cx="256032" cy="256032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263640" y="166420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2F2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Canvas</a:t>
            </a:r>
            <a:endParaRPr lang="en-US" sz="1250" dirty="0"/>
          </a:p>
        </p:txBody>
      </p:sp>
      <p:sp>
        <p:nvSpPr>
          <p:cNvPr id="22" name="Text 17"/>
          <p:cNvSpPr txBox="1"/>
          <p:nvPr/>
        </p:nvSpPr>
        <p:spPr>
          <a:xfrm>
            <a:off x="6263640" y="2048256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9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 comparison by shape, layout, colour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457200" y="283464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18181D"/>
          </a:solidFill>
          <a:ln w="12700">
            <a:solidFill>
              <a:srgbClr val="2E2E36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40080" y="3017520"/>
            <a:ext cx="320040" cy="45720"/>
          </a:xfrm>
          <a:prstGeom prst="rect">
            <a:avLst/>
          </a:prstGeom>
          <a:solidFill>
            <a:srgbClr val="FF2A2A"/>
          </a:solidFill>
          <a:ln w="12700">
            <a:solidFill>
              <a:srgbClr val="FF2A2A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2423160" y="2990088"/>
            <a:ext cx="457200" cy="457200"/>
          </a:xfrm>
          <a:prstGeom prst="ellipse">
            <a:avLst/>
          </a:prstGeom>
          <a:solidFill>
            <a:srgbClr val="FF2A2A">
              <a:alpha val="15000"/>
            </a:srgbClr>
          </a:solidFill>
          <a:ln w="9525">
            <a:solidFill>
              <a:srgbClr val="FF2A2A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3744" y="3090672"/>
            <a:ext cx="256032" cy="256032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640080" y="31272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2F2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DecompressionStream</a:t>
            </a:r>
            <a:endParaRPr lang="en-US" sz="1250" dirty="0"/>
          </a:p>
        </p:txBody>
      </p:sp>
      <p:sp>
        <p:nvSpPr>
          <p:cNvPr id="28" name="Text 22"/>
          <p:cNvSpPr txBox="1"/>
          <p:nvPr/>
        </p:nvSpPr>
        <p:spPr>
          <a:xfrm>
            <a:off x="640080" y="3511296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9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APK files without uploading them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3268980" y="283464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18181D"/>
          </a:solidFill>
          <a:ln w="12700">
            <a:solidFill>
              <a:srgbClr val="2E2E36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3451860" y="3017520"/>
            <a:ext cx="320040" cy="45720"/>
          </a:xfrm>
          <a:prstGeom prst="rect">
            <a:avLst/>
          </a:prstGeom>
          <a:solidFill>
            <a:srgbClr val="FF2A2A"/>
          </a:solidFill>
          <a:ln w="12700">
            <a:solidFill>
              <a:srgbClr val="FF2A2A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5234940" y="2990088"/>
            <a:ext cx="457200" cy="457200"/>
          </a:xfrm>
          <a:prstGeom prst="ellipse">
            <a:avLst/>
          </a:prstGeom>
          <a:solidFill>
            <a:srgbClr val="FF2A2A">
              <a:alpha val="15000"/>
            </a:srgbClr>
          </a:solidFill>
          <a:ln w="9525">
            <a:solidFill>
              <a:srgbClr val="FF2A2A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5524" y="3090672"/>
            <a:ext cx="256032" cy="256032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3451860" y="31272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2F2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Speech API</a:t>
            </a:r>
            <a:endParaRPr lang="en-US" sz="1250" dirty="0"/>
          </a:p>
        </p:txBody>
      </p:sp>
      <p:sp>
        <p:nvSpPr>
          <p:cNvPr id="34" name="Text 27"/>
          <p:cNvSpPr txBox="1"/>
          <p:nvPr/>
        </p:nvSpPr>
        <p:spPr>
          <a:xfrm>
            <a:off x="3451860" y="3511296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9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input and spoken replies in AI Chat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6080760" y="283464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18181D"/>
          </a:solidFill>
          <a:ln w="12700">
            <a:solidFill>
              <a:srgbClr val="2E2E36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6263640" y="3017520"/>
            <a:ext cx="320040" cy="45720"/>
          </a:xfrm>
          <a:prstGeom prst="rect">
            <a:avLst/>
          </a:prstGeom>
          <a:solidFill>
            <a:srgbClr val="FF2A2A"/>
          </a:solidFill>
          <a:ln w="12700">
            <a:solidFill>
              <a:srgbClr val="FF2A2A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8046720" y="2990088"/>
            <a:ext cx="457200" cy="457200"/>
          </a:xfrm>
          <a:prstGeom prst="ellipse">
            <a:avLst/>
          </a:prstGeom>
          <a:solidFill>
            <a:srgbClr val="FF2A2A">
              <a:alpha val="15000"/>
            </a:srgbClr>
          </a:solidFill>
          <a:ln w="9525">
            <a:solidFill>
              <a:srgbClr val="FF2A2A"/>
            </a:solidFill>
            <a:prstDash val="solid"/>
          </a:ln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47304" y="3090672"/>
            <a:ext cx="256032" cy="256032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6263640" y="31272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2F2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localStorage, Netlify</a:t>
            </a:r>
            <a:endParaRPr lang="en-US" sz="1250" dirty="0"/>
          </a:p>
        </p:txBody>
      </p:sp>
      <p:sp>
        <p:nvSpPr>
          <p:cNvPr id="40" name="Text 32"/>
          <p:cNvSpPr txBox="1"/>
          <p:nvPr/>
        </p:nvSpPr>
        <p:spPr>
          <a:xfrm>
            <a:off x="6263640" y="3511296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9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Saves data in the browser, hosted as a static page</a:t>
            </a:r>
            <a:endParaRPr lang="en-US" sz="1100" dirty="0"/>
          </a:p>
        </p:txBody>
      </p:sp>
      <p:sp>
        <p:nvSpPr>
          <p:cNvPr id="41" name="Text 33"/>
          <p:cNvSpPr txBox="1"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backend. No data leaves the user's device.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9AA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822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2F2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9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 before you click. Never share your OTP. Scammed in India? Call 1930.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468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CYVAULT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2880360"/>
            <a:ext cx="1536192" cy="731520"/>
          </a:xfrm>
          <a:prstGeom prst="roundRect">
            <a:avLst>
              <a:gd name="adj" fmla="val 10000"/>
            </a:avLst>
          </a:prstGeom>
          <a:solidFill>
            <a:srgbClr val="18181D"/>
          </a:solidFill>
          <a:ln w="15875">
            <a:solidFill>
              <a:srgbClr val="FF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2880360"/>
            <a:ext cx="438912" cy="45720"/>
          </a:xfrm>
          <a:prstGeom prst="rect">
            <a:avLst/>
          </a:prstGeom>
          <a:solidFill>
            <a:srgbClr val="FF2A2A"/>
          </a:solidFill>
          <a:ln w="12700">
            <a:solidFill>
              <a:srgbClr val="FF2A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880360"/>
            <a:ext cx="1536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2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Rupa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130552" y="2880360"/>
            <a:ext cx="1536192" cy="731520"/>
          </a:xfrm>
          <a:prstGeom prst="roundRect">
            <a:avLst>
              <a:gd name="adj" fmla="val 10000"/>
            </a:avLst>
          </a:prstGeom>
          <a:solidFill>
            <a:srgbClr val="18181D"/>
          </a:solidFill>
          <a:ln w="15875">
            <a:solidFill>
              <a:srgbClr val="FF2A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79192" y="2880360"/>
            <a:ext cx="438912" cy="45720"/>
          </a:xfrm>
          <a:prstGeom prst="rect">
            <a:avLst/>
          </a:prstGeom>
          <a:solidFill>
            <a:srgbClr val="FF2A2A"/>
          </a:solidFill>
          <a:ln w="12700">
            <a:solidFill>
              <a:srgbClr val="FF2A2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130552" y="2880360"/>
            <a:ext cx="1536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2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Teja Gayatri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803904" y="2880360"/>
            <a:ext cx="1536192" cy="731520"/>
          </a:xfrm>
          <a:prstGeom prst="roundRect">
            <a:avLst>
              <a:gd name="adj" fmla="val 10000"/>
            </a:avLst>
          </a:prstGeom>
          <a:solidFill>
            <a:srgbClr val="18181D"/>
          </a:solidFill>
          <a:ln w="15875">
            <a:solidFill>
              <a:srgbClr val="FF2A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52544" y="2880360"/>
            <a:ext cx="438912" cy="45720"/>
          </a:xfrm>
          <a:prstGeom prst="rect">
            <a:avLst/>
          </a:prstGeom>
          <a:solidFill>
            <a:srgbClr val="FF2A2A"/>
          </a:solidFill>
          <a:ln w="12700">
            <a:solidFill>
              <a:srgbClr val="FF2A2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803904" y="2880360"/>
            <a:ext cx="1536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2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Manikanta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77256" y="2880360"/>
            <a:ext cx="1536192" cy="731520"/>
          </a:xfrm>
          <a:prstGeom prst="roundRect">
            <a:avLst>
              <a:gd name="adj" fmla="val 10000"/>
            </a:avLst>
          </a:prstGeom>
          <a:solidFill>
            <a:srgbClr val="18181D"/>
          </a:solidFill>
          <a:ln w="15875">
            <a:solidFill>
              <a:srgbClr val="FF2A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25896" y="2880360"/>
            <a:ext cx="438912" cy="45720"/>
          </a:xfrm>
          <a:prstGeom prst="rect">
            <a:avLst/>
          </a:prstGeom>
          <a:solidFill>
            <a:srgbClr val="FF2A2A"/>
          </a:solidFill>
          <a:ln w="12700">
            <a:solidFill>
              <a:srgbClr val="FF2A2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77256" y="2880360"/>
            <a:ext cx="1536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2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Goutham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150608" y="2880360"/>
            <a:ext cx="1536192" cy="731520"/>
          </a:xfrm>
          <a:prstGeom prst="roundRect">
            <a:avLst>
              <a:gd name="adj" fmla="val 10000"/>
            </a:avLst>
          </a:prstGeom>
          <a:solidFill>
            <a:srgbClr val="18181D"/>
          </a:solidFill>
          <a:ln w="15875">
            <a:solidFill>
              <a:srgbClr val="FF2A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99248" y="2880360"/>
            <a:ext cx="438912" cy="45720"/>
          </a:xfrm>
          <a:prstGeom prst="rect">
            <a:avLst/>
          </a:prstGeom>
          <a:solidFill>
            <a:srgbClr val="FF2A2A"/>
          </a:solidFill>
          <a:ln w="12700">
            <a:solidFill>
              <a:srgbClr val="FF2A2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150608" y="2880360"/>
            <a:ext cx="1536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2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Trilok</a:t>
            </a:r>
            <a:endParaRPr lang="en-US" sz="1500" dirty="0"/>
          </a:p>
        </p:txBody>
      </p:sp>
      <p:sp>
        <p:nvSpPr>
          <p:cNvPr id="20" name="Text 18">
            <a:hlinkClick r:id="rId1" tooltip=""/>
          </p:cNvPr>
          <p:cNvSpPr txBox="1"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u="sng" dirty="0">
                <a:solidFill>
                  <a:srgbClr val="9A9AA5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cy-vault.netlify.app/cyvault-v5.html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CyVault - Digital Risk Protection</dc:title>
  <dc:subject>PptxGenJS Presentation</dc:subject>
  <dc:creator>Team CyVault</dc:creator>
  <cp:lastModifiedBy>Team CyVault</cp:lastModifiedBy>
  <cp:revision>1</cp:revision>
  <dcterms:created xsi:type="dcterms:W3CDTF">2026-10-09T04:41:20Z</dcterms:created>
  <dcterms:modified xsi:type="dcterms:W3CDTF">2026-10-09T04:41:20Z</dcterms:modified>
</cp:coreProperties>
</file>